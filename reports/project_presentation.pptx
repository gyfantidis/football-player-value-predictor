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lexandria Bold" charset="1" panose="00000000000000000000"/>
      <p:regular r:id="rId17"/>
    </p:embeddedFont>
    <p:embeddedFont>
      <p:font typeface="Garet" charset="1" panose="00000000000000000000"/>
      <p:regular r:id="rId18"/>
    </p:embeddedFont>
    <p:embeddedFont>
      <p:font typeface="Garet Bold" charset="1" panose="00000000000000000000"/>
      <p:regular r:id="rId19"/>
    </p:embeddedFont>
    <p:embeddedFont>
      <p:font typeface="Garet Italics" charset="1" panose="00000000000000000000"/>
      <p:regular r:id="rId20"/>
    </p:embeddedFont>
    <p:embeddedFont>
      <p:font typeface="Alexandria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03990" y="1001861"/>
            <a:ext cx="14955310" cy="267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8"/>
              </a:lnSpc>
            </a:pPr>
            <a:r>
              <a:rPr lang="en-US" b="true" sz="7706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PREDICTING FOOTBALL PLAYER MARKET VALUE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35618" y="3877873"/>
            <a:ext cx="13073373" cy="156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Position-Specific Machine Learning Pipeline</a:t>
            </a:r>
          </a:p>
          <a:p>
            <a:pPr algn="ctr">
              <a:lnSpc>
                <a:spcPts val="6256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5769995" y="5440764"/>
            <a:ext cx="6748011" cy="945763"/>
            <a:chOff x="0" y="0"/>
            <a:chExt cx="1297181" cy="1818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7181" cy="181806"/>
            </a:xfrm>
            <a:custGeom>
              <a:avLst/>
              <a:gdLst/>
              <a:ahLst/>
              <a:cxnLst/>
              <a:rect r="r" b="b" t="t" l="l"/>
              <a:pathLst>
                <a:path h="181806" w="1297181">
                  <a:moveTo>
                    <a:pt x="65395" y="0"/>
                  </a:moveTo>
                  <a:lnTo>
                    <a:pt x="1231786" y="0"/>
                  </a:lnTo>
                  <a:cubicBezTo>
                    <a:pt x="1267903" y="0"/>
                    <a:pt x="1297181" y="29279"/>
                    <a:pt x="1297181" y="65395"/>
                  </a:cubicBezTo>
                  <a:lnTo>
                    <a:pt x="1297181" y="116410"/>
                  </a:lnTo>
                  <a:cubicBezTo>
                    <a:pt x="1297181" y="133754"/>
                    <a:pt x="1290291" y="150388"/>
                    <a:pt x="1278027" y="162652"/>
                  </a:cubicBezTo>
                  <a:cubicBezTo>
                    <a:pt x="1265763" y="174916"/>
                    <a:pt x="1249130" y="181806"/>
                    <a:pt x="1231786" y="181806"/>
                  </a:cubicBezTo>
                  <a:lnTo>
                    <a:pt x="65395" y="181806"/>
                  </a:lnTo>
                  <a:cubicBezTo>
                    <a:pt x="29279" y="181806"/>
                    <a:pt x="0" y="152527"/>
                    <a:pt x="0" y="116410"/>
                  </a:cubicBezTo>
                  <a:lnTo>
                    <a:pt x="0" y="65395"/>
                  </a:lnTo>
                  <a:cubicBezTo>
                    <a:pt x="0" y="29279"/>
                    <a:pt x="29279" y="0"/>
                    <a:pt x="65395" y="0"/>
                  </a:cubicBezTo>
                  <a:close/>
                </a:path>
              </a:pathLst>
            </a:custGeom>
            <a:solidFill>
              <a:srgbClr val="545454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97181" cy="219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204830" y="5447022"/>
            <a:ext cx="5898678" cy="1466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6"/>
              </a:lnSpc>
            </a:pPr>
            <a:r>
              <a:rPr lang="en-US" sz="4204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DAMA Hackathon 26</a:t>
            </a:r>
          </a:p>
          <a:p>
            <a:pPr algn="ctr">
              <a:lnSpc>
                <a:spcPts val="5886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493990" y="7097505"/>
            <a:ext cx="7300020" cy="179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7"/>
              </a:lnSpc>
              <a:spcBef>
                <a:spcPct val="0"/>
              </a:spcBef>
            </a:pPr>
            <a:r>
              <a:rPr lang="en-US" sz="34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PET</a:t>
            </a:r>
            <a:r>
              <a:rPr lang="en-US" sz="34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RIDIS DIMITRIOS — AM 170264</a:t>
            </a:r>
          </a:p>
          <a:p>
            <a:pPr algn="ctr">
              <a:lnSpc>
                <a:spcPts val="4847"/>
              </a:lnSpc>
              <a:spcBef>
                <a:spcPct val="0"/>
              </a:spcBef>
            </a:pPr>
            <a:r>
              <a:rPr lang="en-US" sz="34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YFANTIDIS IOANNIS — AM 168057</a:t>
            </a:r>
          </a:p>
          <a:p>
            <a:pPr algn="ctr">
              <a:lnSpc>
                <a:spcPts val="484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992190" y="6661959"/>
            <a:ext cx="7869115" cy="1947606"/>
          </a:xfrm>
          <a:custGeom>
            <a:avLst/>
            <a:gdLst/>
            <a:ahLst/>
            <a:cxnLst/>
            <a:rect r="r" b="b" t="t" l="l"/>
            <a:pathLst>
              <a:path h="1947606" w="7869115">
                <a:moveTo>
                  <a:pt x="0" y="0"/>
                </a:moveTo>
                <a:lnTo>
                  <a:pt x="7869115" y="0"/>
                </a:lnTo>
                <a:lnTo>
                  <a:pt x="7869115" y="1947606"/>
                </a:lnTo>
                <a:lnTo>
                  <a:pt x="0" y="19476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09751" y="152345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THE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25234" y="2365550"/>
            <a:ext cx="11457898" cy="136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- Transfer fees exceed </a:t>
            </a:r>
            <a:r>
              <a:rPr lang="en-US" sz="2600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€200M</a:t>
            </a:r>
            <a:r>
              <a:rPr lang="en-US" sz="2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for top players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- Valuations are </a:t>
            </a:r>
            <a:r>
              <a:rPr lang="en-US" sz="2600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subjective</a:t>
            </a:r>
            <a:r>
              <a:rPr lang="en-US" sz="2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— clubs, agents, media shape prices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- A striker's value depends on </a:t>
            </a:r>
            <a:r>
              <a:rPr lang="en-US" sz="2600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different signals</a:t>
            </a:r>
            <a:r>
              <a:rPr lang="en-US" sz="2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than a goalkeeper's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05688" y="1867003"/>
            <a:ext cx="4192488" cy="54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b="true" sz="3222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WHY IS THIS HARD?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05688" y="4309054"/>
            <a:ext cx="2427769" cy="54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b="true" sz="3222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OUR GOAL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05688" y="4960615"/>
            <a:ext cx="10656314" cy="136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63" indent="-28068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Predict </a:t>
            </a:r>
            <a:r>
              <a:rPr lang="en-US" sz="2600" i="true">
                <a:solidFill>
                  <a:srgbClr val="CB6CE6"/>
                </a:solidFill>
                <a:latin typeface="Garet Italics"/>
                <a:ea typeface="Garet Italics"/>
                <a:cs typeface="Garet Italics"/>
                <a:sym typeface="Garet Italics"/>
              </a:rPr>
              <a:t>market_value_in_eur</a:t>
            </a:r>
            <a:r>
              <a:rPr lang="en-US" sz="2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from </a:t>
            </a:r>
            <a:r>
              <a:rPr lang="en-US" b="true" sz="26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publicly available</a:t>
            </a:r>
            <a:r>
              <a:rPr lang="en-US" sz="2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p</a:t>
            </a:r>
            <a:r>
              <a:rPr lang="en-US" sz="2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rforman</a:t>
            </a:r>
            <a:r>
              <a:rPr lang="en-US" sz="2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ce</a:t>
            </a:r>
            <a:r>
              <a:rPr lang="en-US" sz="2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statistics — </a:t>
            </a:r>
            <a:r>
              <a:rPr lang="en-US" b="true" sz="26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separately per position group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761800" y="8734014"/>
            <a:ext cx="12452457" cy="37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>
                <a:solidFill>
                  <a:srgbClr val="545454"/>
                </a:solidFill>
                <a:latin typeface="Garet Italics"/>
                <a:ea typeface="Garet Italics"/>
                <a:cs typeface="Garet Italics"/>
                <a:sym typeface="Garet Italics"/>
              </a:rPr>
              <a:t>Market value distribution — heavily right-skewed; log-transform applied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476776" y="3326740"/>
            <a:ext cx="4767637" cy="3387891"/>
          </a:xfrm>
          <a:custGeom>
            <a:avLst/>
            <a:gdLst/>
            <a:ahLst/>
            <a:cxnLst/>
            <a:rect r="r" b="b" t="t" l="l"/>
            <a:pathLst>
              <a:path h="3387891" w="4767637">
                <a:moveTo>
                  <a:pt x="0" y="0"/>
                </a:moveTo>
                <a:lnTo>
                  <a:pt x="4767636" y="0"/>
                </a:lnTo>
                <a:lnTo>
                  <a:pt x="4767636" y="3387891"/>
                </a:lnTo>
                <a:lnTo>
                  <a:pt x="0" y="33878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35019" y="3326740"/>
            <a:ext cx="5115025" cy="3305585"/>
          </a:xfrm>
          <a:custGeom>
            <a:avLst/>
            <a:gdLst/>
            <a:ahLst/>
            <a:cxnLst/>
            <a:rect r="r" b="b" t="t" l="l"/>
            <a:pathLst>
              <a:path h="3305585" w="5115025">
                <a:moveTo>
                  <a:pt x="0" y="0"/>
                </a:moveTo>
                <a:lnTo>
                  <a:pt x="5115024" y="0"/>
                </a:lnTo>
                <a:lnTo>
                  <a:pt x="5115024" y="3305585"/>
                </a:lnTo>
                <a:lnTo>
                  <a:pt x="0" y="33055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41415" y="540140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DATA &amp; PIPELINE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76776" y="6965398"/>
            <a:ext cx="8253325" cy="172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After cleaning: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30,710 labelled players</a:t>
            </a:r>
          </a:p>
          <a:p>
            <a:pPr algn="l">
              <a:lnSpc>
                <a:spcPts val="4576"/>
              </a:lnSpc>
            </a:pPr>
            <a:r>
              <a:rPr lang="en-US" sz="32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4 positon groups: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GK - DEF - MID- ATT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32400" y="2575386"/>
            <a:ext cx="5975522" cy="54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b="true" sz="3222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7 TRANSFERMARKT CSVS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74522" y="2475436"/>
            <a:ext cx="5975522" cy="54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b="true" sz="3222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10-STEP PIPELINE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33545" y="2670986"/>
            <a:ext cx="11844992" cy="28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489768"/>
                </a:solidFill>
                <a:latin typeface="Garet"/>
                <a:ea typeface="Garet"/>
                <a:cs typeface="Garet"/>
                <a:sym typeface="Garet"/>
              </a:rPr>
              <a:t>age + age²</a:t>
            </a: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— non-linear career arc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489768"/>
                </a:solidFill>
                <a:latin typeface="Garet"/>
                <a:ea typeface="Garet"/>
                <a:cs typeface="Garet"/>
                <a:sym typeface="Garet"/>
              </a:rPr>
              <a:t>log_minutes</a:t>
            </a: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268">
                <a:solidFill>
                  <a:srgbClr val="489768"/>
                </a:solidFill>
                <a:latin typeface="Garet"/>
                <a:ea typeface="Garet"/>
                <a:cs typeface="Garet"/>
                <a:sym typeface="Garet"/>
              </a:rPr>
              <a:t>log_appearances</a:t>
            </a: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— experience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Rate stats: goals, assists, contributions per 90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489768"/>
                </a:solidFill>
                <a:latin typeface="Garet"/>
                <a:ea typeface="Garet"/>
                <a:cs typeface="Garet"/>
                <a:sym typeface="Garet"/>
              </a:rPr>
              <a:t>log_highest_mv</a:t>
            </a: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— career peak reputation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489768"/>
                </a:solidFill>
                <a:latin typeface="Garet"/>
                <a:ea typeface="Garet"/>
                <a:cs typeface="Garet"/>
                <a:sym typeface="Garet"/>
              </a:rPr>
              <a:t>league_mean_value</a:t>
            </a: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— target-encoded league prestige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489768"/>
                </a:solidFill>
                <a:latin typeface="Garet"/>
                <a:ea typeface="Garet"/>
                <a:cs typeface="Garet"/>
                <a:sym typeface="Garet"/>
              </a:rPr>
              <a:t>transfer_count</a:t>
            </a: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268">
                <a:solidFill>
                  <a:srgbClr val="489768"/>
                </a:solidFill>
                <a:latin typeface="Garet"/>
                <a:ea typeface="Garet"/>
                <a:cs typeface="Garet"/>
                <a:sym typeface="Garet"/>
              </a:rPr>
              <a:t>log_total_fees</a:t>
            </a:r>
          </a:p>
          <a:p>
            <a:pPr algn="l">
              <a:lnSpc>
                <a:spcPts val="387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805678" y="6720809"/>
            <a:ext cx="6812912" cy="2384519"/>
          </a:xfrm>
          <a:custGeom>
            <a:avLst/>
            <a:gdLst/>
            <a:ahLst/>
            <a:cxnLst/>
            <a:rect r="r" b="b" t="t" l="l"/>
            <a:pathLst>
              <a:path h="2384519" w="6812912">
                <a:moveTo>
                  <a:pt x="0" y="0"/>
                </a:moveTo>
                <a:lnTo>
                  <a:pt x="6812912" y="0"/>
                </a:lnTo>
                <a:lnTo>
                  <a:pt x="6812912" y="2384519"/>
                </a:lnTo>
                <a:lnTo>
                  <a:pt x="0" y="23845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79516" y="430108"/>
            <a:ext cx="14579784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FEATURE ENGINEERING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1514" y="1978718"/>
            <a:ext cx="9909223" cy="54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b="true" sz="3222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SHARED BASE FEATURES (ALL POSITIONS)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68091" y="5787761"/>
            <a:ext cx="5776466" cy="58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4"/>
              </a:lnSpc>
              <a:spcBef>
                <a:spcPct val="0"/>
              </a:spcBef>
            </a:pPr>
            <a:r>
              <a:rPr lang="en-US" b="true" sz="3389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WHY SEPARATE MODELS?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679516" y="430108"/>
            <a:ext cx="14579784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FEATURE ENGINEERING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69956" y="2676394"/>
            <a:ext cx="9909223" cy="54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b="true" sz="3222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POSITION-SPECIFIC ADDITIONS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55706" y="3445101"/>
            <a:ext cx="13512490" cy="418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019" indent="-304009" lvl="1">
              <a:lnSpc>
                <a:spcPts val="6815"/>
              </a:lnSpc>
              <a:buFont typeface="Arial"/>
              <a:buChar char="•"/>
            </a:pPr>
            <a:r>
              <a:rPr lang="en-US" b="true" sz="2816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GK</a:t>
            </a:r>
            <a:r>
              <a:rPr lang="en-US" sz="281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- save percentage proxy, clean sheet rate, offensive contribution</a:t>
            </a:r>
          </a:p>
          <a:p>
            <a:pPr algn="l" marL="608019" indent="-304009" lvl="1">
              <a:lnSpc>
                <a:spcPts val="6815"/>
              </a:lnSpc>
              <a:buFont typeface="Arial"/>
              <a:buChar char="•"/>
            </a:pPr>
            <a:r>
              <a:rPr lang="en-US" b="true" sz="2816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DEF</a:t>
            </a:r>
            <a:r>
              <a:rPr lang="en-US" sz="281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- defensive solidity, discipline score, defensive attack rate</a:t>
            </a:r>
          </a:p>
          <a:p>
            <a:pPr algn="l" marL="608019" indent="-304009" lvl="1">
              <a:lnSpc>
                <a:spcPts val="6815"/>
              </a:lnSpc>
              <a:buFont typeface="Arial"/>
              <a:buChar char="•"/>
            </a:pPr>
            <a:r>
              <a:rPr lang="en-US" b="true" sz="2816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MID</a:t>
            </a:r>
            <a:r>
              <a:rPr lang="en-US" sz="281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- creative output per 90, attack-defense ratio</a:t>
            </a:r>
          </a:p>
          <a:p>
            <a:pPr algn="l" marL="608019" indent="-304009" lvl="1">
              <a:lnSpc>
                <a:spcPts val="6815"/>
              </a:lnSpc>
              <a:buFont typeface="Arial"/>
              <a:buChar char="•"/>
            </a:pPr>
            <a:r>
              <a:rPr lang="en-US" b="true" sz="2816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ATT</a:t>
            </a:r>
            <a:r>
              <a:rPr lang="en-US" sz="281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- goals per appearance, minutes per goal, assist-to-goal ratio</a:t>
            </a:r>
          </a:p>
          <a:p>
            <a:pPr algn="l">
              <a:lnSpc>
                <a:spcPts val="681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969408" y="2232414"/>
            <a:ext cx="6469080" cy="2911086"/>
          </a:xfrm>
          <a:custGeom>
            <a:avLst/>
            <a:gdLst/>
            <a:ahLst/>
            <a:cxnLst/>
            <a:rect r="r" b="b" t="t" l="l"/>
            <a:pathLst>
              <a:path h="2911086" w="6469080">
                <a:moveTo>
                  <a:pt x="0" y="0"/>
                </a:moveTo>
                <a:lnTo>
                  <a:pt x="6469080" y="0"/>
                </a:lnTo>
                <a:lnTo>
                  <a:pt x="6469080" y="2911086"/>
                </a:lnTo>
                <a:lnTo>
                  <a:pt x="0" y="29110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83809" y="6686733"/>
            <a:ext cx="5962718" cy="2191299"/>
          </a:xfrm>
          <a:custGeom>
            <a:avLst/>
            <a:gdLst/>
            <a:ahLst/>
            <a:cxnLst/>
            <a:rect r="r" b="b" t="t" l="l"/>
            <a:pathLst>
              <a:path h="2191299" w="5962718">
                <a:moveTo>
                  <a:pt x="0" y="0"/>
                </a:moveTo>
                <a:lnTo>
                  <a:pt x="5962718" y="0"/>
                </a:lnTo>
                <a:lnTo>
                  <a:pt x="5962718" y="2191299"/>
                </a:lnTo>
                <a:lnTo>
                  <a:pt x="0" y="21912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79516" y="178172"/>
            <a:ext cx="14579784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MODELS &amp;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7960" y="2094539"/>
            <a:ext cx="5366911" cy="54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b="true" sz="3222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WHAT WE TRAINED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1514" y="2728099"/>
            <a:ext cx="7642343" cy="654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2298" indent="-281149" lvl="1">
              <a:lnSpc>
                <a:spcPts val="6302"/>
              </a:lnSpc>
              <a:buAutoNum type="arabicPeriod" startAt="1"/>
            </a:pPr>
            <a:r>
              <a:rPr lang="en-US" b="true" sz="2604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Linear regression </a:t>
            </a:r>
            <a:r>
              <a:rPr lang="en-US" sz="260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(plain)</a:t>
            </a:r>
          </a:p>
          <a:p>
            <a:pPr algn="l" marL="562298" indent="-281149" lvl="1">
              <a:lnSpc>
                <a:spcPts val="6302"/>
              </a:lnSpc>
              <a:buAutoNum type="arabicPeriod" startAt="1"/>
            </a:pPr>
            <a:r>
              <a:rPr lang="en-US" b="true" sz="2604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Ridge </a:t>
            </a:r>
            <a:r>
              <a:rPr lang="en-US" sz="260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(L2 regularisation)</a:t>
            </a:r>
          </a:p>
          <a:p>
            <a:pPr algn="l" marL="562298" indent="-281149" lvl="1">
              <a:lnSpc>
                <a:spcPts val="6302"/>
              </a:lnSpc>
              <a:buAutoNum type="arabicPeriod" startAt="1"/>
            </a:pPr>
            <a:r>
              <a:rPr lang="en-US" b="true" sz="2604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Lasso </a:t>
            </a:r>
            <a:r>
              <a:rPr lang="en-US" sz="260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(L1 regularisation)</a:t>
            </a:r>
          </a:p>
          <a:p>
            <a:pPr algn="l" marL="562298" indent="-281149" lvl="1">
              <a:lnSpc>
                <a:spcPts val="6302"/>
              </a:lnSpc>
              <a:buAutoNum type="arabicPeriod" startAt="1"/>
            </a:pPr>
            <a:r>
              <a:rPr lang="en-US" b="true" sz="2604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Random Forest </a:t>
            </a:r>
            <a:r>
              <a:rPr lang="en-US" sz="260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(RandomizedSearchCV)</a:t>
            </a:r>
          </a:p>
          <a:p>
            <a:pPr algn="l" marL="562298" indent="-281149" lvl="1">
              <a:lnSpc>
                <a:spcPts val="6302"/>
              </a:lnSpc>
              <a:buAutoNum type="arabicPeriod" startAt="1"/>
            </a:pPr>
            <a:r>
              <a:rPr lang="en-US" b="true" sz="2604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XGBoost </a:t>
            </a:r>
            <a:r>
              <a:rPr lang="en-US" sz="260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(hist method, tuned)</a:t>
            </a:r>
          </a:p>
          <a:p>
            <a:pPr algn="l" marL="562298" indent="-281149" lvl="1">
              <a:lnSpc>
                <a:spcPts val="6302"/>
              </a:lnSpc>
              <a:buAutoNum type="arabicPeriod" startAt="1"/>
            </a:pPr>
            <a:r>
              <a:rPr lang="en-US" b="true" sz="2604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MLP </a:t>
            </a:r>
            <a:r>
              <a:rPr lang="en-US" sz="260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(Adam, early stopping, 3 layers)</a:t>
            </a:r>
          </a:p>
          <a:p>
            <a:pPr algn="l">
              <a:lnSpc>
                <a:spcPts val="4115"/>
              </a:lnSpc>
            </a:pPr>
          </a:p>
          <a:p>
            <a:pPr algn="l">
              <a:lnSpc>
                <a:spcPts val="4115"/>
              </a:lnSpc>
            </a:pPr>
            <a:r>
              <a:rPr lang="en-US" sz="2604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No data leakage: </a:t>
            </a:r>
            <a:r>
              <a:rPr lang="en-US" sz="260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split → encode → scale</a:t>
            </a:r>
          </a:p>
          <a:p>
            <a:pPr algn="l">
              <a:lnSpc>
                <a:spcPts val="630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02703" y="5311856"/>
            <a:ext cx="5935785" cy="26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523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XGBOOST GAINS +5–8 R² POINTS OVER RIDGE BASELINES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69408" y="5930397"/>
            <a:ext cx="6079431" cy="54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b="true" sz="3222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TEST-SET R² BY POSITION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204516" y="2177946"/>
            <a:ext cx="6415422" cy="5132337"/>
          </a:xfrm>
          <a:custGeom>
            <a:avLst/>
            <a:gdLst/>
            <a:ahLst/>
            <a:cxnLst/>
            <a:rect r="r" b="b" t="t" l="l"/>
            <a:pathLst>
              <a:path h="5132337" w="6415422">
                <a:moveTo>
                  <a:pt x="0" y="0"/>
                </a:moveTo>
                <a:lnTo>
                  <a:pt x="6415422" y="0"/>
                </a:lnTo>
                <a:lnTo>
                  <a:pt x="6415422" y="5132338"/>
                </a:lnTo>
                <a:lnTo>
                  <a:pt x="0" y="51323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25584" y="201671"/>
            <a:ext cx="12933716" cy="110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8"/>
              </a:lnSpc>
            </a:pPr>
            <a:r>
              <a:rPr lang="en-US" b="true" sz="64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SHAP: WHAT DRIVES VALUE?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1875" y="2109383"/>
            <a:ext cx="6569288" cy="54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b="true" sz="3222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CROSS-POSITION FINDINGS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1514" y="2730367"/>
            <a:ext cx="8662888" cy="223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3366" indent="-211683" lvl="1">
              <a:lnSpc>
                <a:spcPts val="3470"/>
              </a:lnSpc>
              <a:buAutoNum type="arabicPeriod" startAt="1"/>
            </a:pPr>
            <a:r>
              <a:rPr lang="en-US" b="true" sz="196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league_mean_value — </a:t>
            </a:r>
            <a:r>
              <a:rPr lang="en-US" sz="196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top-3 in every position: </a:t>
            </a:r>
            <a:r>
              <a:rPr lang="en-US" b="true" sz="196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where</a:t>
            </a:r>
            <a:r>
              <a:rPr lang="en-US" sz="196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you play matters as much as </a:t>
            </a:r>
            <a:r>
              <a:rPr lang="en-US" b="true" sz="196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how</a:t>
            </a:r>
          </a:p>
          <a:p>
            <a:pPr algn="l" marL="423366" indent="-211683" lvl="1">
              <a:lnSpc>
                <a:spcPts val="3470"/>
              </a:lnSpc>
              <a:buAutoNum type="arabicPeriod" startAt="1"/>
            </a:pPr>
            <a:r>
              <a:rPr lang="en-US" b="true" sz="196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- log_highest_mv — </a:t>
            </a:r>
            <a:r>
              <a:rPr lang="en-US" sz="196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market anchors to career reputation</a:t>
            </a:r>
          </a:p>
          <a:p>
            <a:pPr algn="l" marL="423366" indent="-211683" lvl="1">
              <a:lnSpc>
                <a:spcPts val="3470"/>
              </a:lnSpc>
              <a:buAutoNum type="arabicPeriod" startAt="1"/>
            </a:pPr>
            <a:r>
              <a:rPr lang="en-US" b="true" sz="196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- age² — </a:t>
            </a:r>
            <a:r>
              <a:rPr lang="en-US" sz="196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value peaks</a:t>
            </a:r>
            <a:r>
              <a:rPr lang="en-US" sz="196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mid-20s, accelerates decline post-30</a:t>
            </a:r>
          </a:p>
          <a:p>
            <a:pPr algn="l">
              <a:lnSpc>
                <a:spcPts val="474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91875" y="5651780"/>
            <a:ext cx="6569288" cy="54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b="true" sz="3222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POSITION-SPECIFIC SIGNALS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1514" y="6236667"/>
            <a:ext cx="9147546" cy="240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02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- </a:t>
            </a:r>
            <a:r>
              <a:rPr lang="en-US" sz="2021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ATT</a:t>
            </a:r>
            <a:r>
              <a:rPr lang="en-US" sz="202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021">
                <a:solidFill>
                  <a:srgbClr val="489768"/>
                </a:solidFill>
                <a:latin typeface="Garet"/>
                <a:ea typeface="Garet"/>
                <a:cs typeface="Garet"/>
                <a:sym typeface="Garet"/>
              </a:rPr>
              <a:t>goals_per_90 </a:t>
            </a:r>
            <a:r>
              <a:rPr lang="en-US" sz="202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becomes the strongest driver</a:t>
            </a:r>
          </a:p>
          <a:p>
            <a:pPr algn="l">
              <a:lnSpc>
                <a:spcPts val="3861"/>
              </a:lnSpc>
            </a:pPr>
            <a:r>
              <a:rPr lang="en-US" sz="202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- </a:t>
            </a:r>
            <a:r>
              <a:rPr lang="en-US" sz="2021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GK</a:t>
            </a:r>
            <a:r>
              <a:rPr lang="en-US" sz="202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performance stats matter less; reputation &amp; league dominate</a:t>
            </a:r>
          </a:p>
          <a:p>
            <a:pPr algn="l">
              <a:lnSpc>
                <a:spcPts val="3861"/>
              </a:lnSpc>
            </a:pPr>
            <a:r>
              <a:rPr lang="en-US" sz="202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- </a:t>
            </a:r>
            <a:r>
              <a:rPr lang="en-US" sz="2021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MID</a:t>
            </a:r>
            <a:r>
              <a:rPr lang="en-US" sz="202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021">
                <a:solidFill>
                  <a:srgbClr val="489768"/>
                </a:solidFill>
                <a:latin typeface="Garet"/>
                <a:ea typeface="Garet"/>
                <a:cs typeface="Garet"/>
                <a:sym typeface="Garet"/>
              </a:rPr>
              <a:t>creative_per_90</a:t>
            </a:r>
            <a:r>
              <a:rPr lang="en-US" sz="202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and </a:t>
            </a:r>
            <a:r>
              <a:rPr lang="en-US" sz="2021">
                <a:solidFill>
                  <a:srgbClr val="489768"/>
                </a:solidFill>
                <a:latin typeface="Garet"/>
                <a:ea typeface="Garet"/>
                <a:cs typeface="Garet"/>
                <a:sym typeface="Garet"/>
              </a:rPr>
              <a:t>contributions_per_90</a:t>
            </a:r>
            <a:r>
              <a:rPr lang="en-US" sz="202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provide lift</a:t>
            </a:r>
          </a:p>
          <a:p>
            <a:pPr algn="l">
              <a:lnSpc>
                <a:spcPts val="3861"/>
              </a:lnSpc>
            </a:pPr>
            <a:r>
              <a:rPr lang="en-US" sz="202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- </a:t>
            </a:r>
            <a:r>
              <a:rPr lang="en-US" sz="2021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DEF</a:t>
            </a:r>
            <a:r>
              <a:rPr lang="en-US" sz="202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021">
                <a:solidFill>
                  <a:srgbClr val="489768"/>
                </a:solidFill>
                <a:latin typeface="Garet"/>
                <a:ea typeface="Garet"/>
                <a:cs typeface="Garet"/>
                <a:sym typeface="Garet"/>
              </a:rPr>
              <a:t>defensive_solidity</a:t>
            </a:r>
            <a:r>
              <a:rPr lang="en-US" sz="202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and </a:t>
            </a:r>
            <a:r>
              <a:rPr lang="en-US" sz="2021">
                <a:solidFill>
                  <a:srgbClr val="489768"/>
                </a:solidFill>
                <a:latin typeface="Garet"/>
                <a:ea typeface="Garet"/>
                <a:cs typeface="Garet"/>
                <a:sym typeface="Garet"/>
              </a:rPr>
              <a:t>transfer_count</a:t>
            </a:r>
            <a:r>
              <a:rPr lang="en-US" sz="202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add beyond base</a:t>
            </a:r>
          </a:p>
          <a:p>
            <a:pPr algn="l">
              <a:lnSpc>
                <a:spcPts val="386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098530" y="6631387"/>
            <a:ext cx="3820881" cy="1994416"/>
          </a:xfrm>
          <a:custGeom>
            <a:avLst/>
            <a:gdLst/>
            <a:ahLst/>
            <a:cxnLst/>
            <a:rect r="r" b="b" t="t" l="l"/>
            <a:pathLst>
              <a:path h="1994416" w="3820881">
                <a:moveTo>
                  <a:pt x="0" y="0"/>
                </a:moveTo>
                <a:lnTo>
                  <a:pt x="3820880" y="0"/>
                </a:lnTo>
                <a:lnTo>
                  <a:pt x="3820880" y="1994416"/>
                </a:lnTo>
                <a:lnTo>
                  <a:pt x="0" y="19944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04580" y="1997182"/>
            <a:ext cx="6763122" cy="4818724"/>
          </a:xfrm>
          <a:custGeom>
            <a:avLst/>
            <a:gdLst/>
            <a:ahLst/>
            <a:cxnLst/>
            <a:rect r="r" b="b" t="t" l="l"/>
            <a:pathLst>
              <a:path h="4818724" w="6763122">
                <a:moveTo>
                  <a:pt x="0" y="0"/>
                </a:moveTo>
                <a:lnTo>
                  <a:pt x="6763122" y="0"/>
                </a:lnTo>
                <a:lnTo>
                  <a:pt x="6763122" y="4818724"/>
                </a:lnTo>
                <a:lnTo>
                  <a:pt x="0" y="48187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25584" y="201671"/>
            <a:ext cx="12933716" cy="110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8"/>
              </a:lnSpc>
            </a:pPr>
            <a:r>
              <a:rPr lang="en-US" b="true" sz="64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APPLICATION: DREAM TEAM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1875" y="2109383"/>
            <a:ext cx="7949795" cy="111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b="true" sz="3222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SCORING ALL 33,500+ PLAYERS</a:t>
            </a:r>
          </a:p>
          <a:p>
            <a:pPr algn="l">
              <a:lnSpc>
                <a:spcPts val="4512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91875" y="2676309"/>
            <a:ext cx="8662888" cy="147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9724" indent="-254862" lvl="1">
              <a:lnSpc>
                <a:spcPts val="4037"/>
              </a:lnSpc>
              <a:buFont typeface="Arial"/>
              <a:buChar char="•"/>
            </a:pPr>
            <a:r>
              <a:rPr lang="en-US" sz="236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Using serialised preprocessors — </a:t>
            </a:r>
            <a:r>
              <a:rPr lang="en-US" b="true" sz="236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no leakage</a:t>
            </a:r>
          </a:p>
          <a:p>
            <a:pPr algn="l" marL="509724" indent="-254862" lvl="1">
              <a:lnSpc>
                <a:spcPts val="4037"/>
              </a:lnSpc>
              <a:buFont typeface="Arial"/>
              <a:buChar char="•"/>
            </a:pPr>
            <a:r>
              <a:rPr lang="en-US" b="true" sz="236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Undervaluation ratio</a:t>
            </a:r>
            <a:r>
              <a:rPr lang="en-US" sz="236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= predicted ÷ actual</a:t>
            </a:r>
          </a:p>
          <a:p>
            <a:pPr algn="l" marL="509724" indent="-254862" lvl="1">
              <a:lnSpc>
                <a:spcPts val="4037"/>
              </a:lnSpc>
              <a:buFont typeface="Arial"/>
              <a:buChar char="•"/>
            </a:pPr>
            <a:r>
              <a:rPr lang="en-US" sz="236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Minimum 1</a:t>
            </a:r>
            <a:r>
              <a:rPr lang="en-US" sz="2360">
                <a:solidFill>
                  <a:srgbClr val="489768"/>
                </a:solidFill>
                <a:latin typeface="Garet"/>
                <a:ea typeface="Garet"/>
                <a:cs typeface="Garet"/>
                <a:sym typeface="Garet"/>
              </a:rPr>
              <a:t>0 appearances filter</a:t>
            </a:r>
            <a:r>
              <a:rPr lang="en-US" sz="236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applied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1875" y="5250988"/>
            <a:ext cx="5767704" cy="111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b="true" sz="3222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4-3-3 SQUAD — COST VS. PREDICTED VALUE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04580" y="6911403"/>
            <a:ext cx="6763122" cy="128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2"/>
              </a:lnSpc>
              <a:spcBef>
                <a:spcPct val="0"/>
              </a:spcBef>
            </a:pPr>
            <a:r>
              <a:rPr lang="en-US" sz="1822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TOP PICKS: </a:t>
            </a:r>
          </a:p>
          <a:p>
            <a:pPr algn="ctr">
              <a:lnSpc>
                <a:spcPts val="2552"/>
              </a:lnSpc>
              <a:spcBef>
                <a:spcPct val="0"/>
              </a:spcBef>
            </a:pPr>
            <a:r>
              <a:rPr lang="en-US" sz="1822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· MAXI GÓMEZ (ATT, ES1, €16.15M GAP) </a:t>
            </a:r>
          </a:p>
          <a:p>
            <a:pPr algn="ctr">
              <a:lnSpc>
                <a:spcPts val="2552"/>
              </a:lnSpc>
              <a:spcBef>
                <a:spcPct val="0"/>
              </a:spcBef>
            </a:pPr>
            <a:r>
              <a:rPr lang="en-US" sz="1822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· CONRAD HARDER (ATT, L1, €15.48M GAP) </a:t>
            </a:r>
          </a:p>
          <a:p>
            <a:pPr algn="ctr">
              <a:lnSpc>
                <a:spcPts val="2552"/>
              </a:lnSpc>
              <a:spcBef>
                <a:spcPct val="0"/>
              </a:spcBef>
            </a:pPr>
            <a:r>
              <a:rPr lang="en-US" sz="1822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· JORIS GNAGNON (DEF, ES1, 24.6×)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934194" y="1555241"/>
            <a:ext cx="10202820" cy="7550087"/>
          </a:xfrm>
          <a:custGeom>
            <a:avLst/>
            <a:gdLst/>
            <a:ahLst/>
            <a:cxnLst/>
            <a:rect r="r" b="b" t="t" l="l"/>
            <a:pathLst>
              <a:path h="7550087" w="10202820">
                <a:moveTo>
                  <a:pt x="0" y="0"/>
                </a:moveTo>
                <a:lnTo>
                  <a:pt x="10202820" y="0"/>
                </a:lnTo>
                <a:lnTo>
                  <a:pt x="10202820" y="7550087"/>
                </a:lnTo>
                <a:lnTo>
                  <a:pt x="0" y="75500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25584" y="201671"/>
            <a:ext cx="12933716" cy="110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8"/>
              </a:lnSpc>
            </a:pPr>
            <a:r>
              <a:rPr lang="en-US" b="true" sz="64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LIMITATIONS &amp; FUTURE 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325584" y="201671"/>
            <a:ext cx="12933716" cy="110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8"/>
              </a:lnSpc>
            </a:pPr>
            <a:r>
              <a:rPr lang="en-US" b="true" sz="64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93459" y="1550791"/>
            <a:ext cx="7949795" cy="111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b="true" sz="3222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WHAT WE ACHIEVED</a:t>
            </a:r>
          </a:p>
          <a:p>
            <a:pPr algn="l">
              <a:lnSpc>
                <a:spcPts val="4512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493459" y="4297853"/>
            <a:ext cx="5767704" cy="54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b="true" sz="3222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KEY INSIGHTS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68472" y="5092289"/>
            <a:ext cx="11158835" cy="1405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6764" indent="-218382" lvl="1">
              <a:lnSpc>
                <a:spcPts val="2832"/>
              </a:lnSpc>
              <a:buFont typeface="Arial"/>
              <a:buChar char="•"/>
            </a:pPr>
            <a:r>
              <a:rPr lang="en-US" sz="20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LEAGUE PRESTIGE = STRONGEST CROSS-POSITION SIGNAL</a:t>
            </a:r>
          </a:p>
          <a:p>
            <a:pPr algn="l" marL="436764" indent="-218382" lvl="1">
              <a:lnSpc>
                <a:spcPts val="2832"/>
              </a:lnSpc>
              <a:buFont typeface="Arial"/>
              <a:buChar char="•"/>
            </a:pPr>
            <a:r>
              <a:rPr lang="en-US" sz="20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CAREER PEAK VALUE ANCHORS MARKET ESTIMATES</a:t>
            </a:r>
          </a:p>
          <a:p>
            <a:pPr algn="l" marL="436764" indent="-218382" lvl="1">
              <a:lnSpc>
                <a:spcPts val="2832"/>
              </a:lnSpc>
              <a:buFont typeface="Arial"/>
              <a:buChar char="•"/>
            </a:pPr>
            <a:r>
              <a:rPr lang="en-US" sz="20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POSITION-SPECIFIC FEATURES ADD MEANINGFUL LIFT</a:t>
            </a:r>
          </a:p>
          <a:p>
            <a:pPr algn="l" marL="436764" indent="-218382" lvl="1">
              <a:lnSpc>
                <a:spcPts val="2832"/>
              </a:lnSpc>
              <a:buFont typeface="Arial"/>
              <a:buChar char="•"/>
            </a:pPr>
            <a:r>
              <a:rPr lang="en-US" sz="20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HIGH-VALUE PLAYERS SYSTEMATICALLY UNDERESTIMATED (COMPRESSION EFFECT)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68472" y="2297776"/>
            <a:ext cx="10544749" cy="175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6764" indent="-218382" lvl="1">
              <a:lnSpc>
                <a:spcPts val="2832"/>
              </a:lnSpc>
              <a:buFont typeface="Arial"/>
              <a:buChar char="•"/>
            </a:pPr>
            <a:r>
              <a:rPr lang="en-US" sz="20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R² </a:t>
            </a:r>
            <a:r>
              <a:rPr lang="en-US" b="true" sz="202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0.79–0.83 </a:t>
            </a:r>
            <a:r>
              <a:rPr lang="en-US" sz="20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ACROSS ALL POSITIONS</a:t>
            </a:r>
          </a:p>
          <a:p>
            <a:pPr algn="l" marL="436764" indent="-218382" lvl="1">
              <a:lnSpc>
                <a:spcPts val="2832"/>
              </a:lnSpc>
              <a:buFont typeface="Arial"/>
              <a:buChar char="•"/>
            </a:pPr>
            <a:r>
              <a:rPr lang="en-US" sz="20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XGBOOST OUTPERFORMS RF, MLP, AND LINEAR BASELINES</a:t>
            </a:r>
          </a:p>
          <a:p>
            <a:pPr algn="l" marL="436764" indent="-218382" lvl="1">
              <a:lnSpc>
                <a:spcPts val="2832"/>
              </a:lnSpc>
              <a:buFont typeface="Arial"/>
              <a:buChar char="•"/>
            </a:pPr>
            <a:r>
              <a:rPr lang="en-US" sz="20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SHAP PROVIDES ACTIONABLE INTERPRETATION</a:t>
            </a:r>
          </a:p>
          <a:p>
            <a:pPr algn="l" marL="436764" indent="-218382" lvl="1">
              <a:lnSpc>
                <a:spcPts val="2832"/>
              </a:lnSpc>
              <a:buFont typeface="Arial"/>
              <a:buChar char="•"/>
            </a:pPr>
            <a:r>
              <a:rPr lang="en-US" sz="20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FULL REPRODUCIBLE PIPELINE (10 NOTEBOOKS)</a:t>
            </a:r>
          </a:p>
          <a:p>
            <a:pPr algn="l">
              <a:lnSpc>
                <a:spcPts val="2832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473143" y="6990360"/>
            <a:ext cx="5767704" cy="54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b="true" sz="3222">
                <a:solidFill>
                  <a:srgbClr val="FF3131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FUTURE 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68472" y="7595287"/>
            <a:ext cx="9973419" cy="175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6764" indent="-218382" lvl="1">
              <a:lnSpc>
                <a:spcPts val="2832"/>
              </a:lnSpc>
              <a:buFont typeface="Arial"/>
              <a:buChar char="•"/>
            </a:pPr>
            <a:r>
              <a:rPr lang="en-US" sz="20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FINER POSITION GRANULARITY (CB/LB/RB, CM/CAM/CDM)</a:t>
            </a:r>
          </a:p>
          <a:p>
            <a:pPr algn="l" marL="436764" indent="-218382" lvl="1">
              <a:lnSpc>
                <a:spcPts val="2832"/>
              </a:lnSpc>
              <a:buFont typeface="Arial"/>
              <a:buChar char="•"/>
            </a:pPr>
            <a:r>
              <a:rPr lang="en-US" sz="20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TEMPORAL MODELLING (LSTM/TRANSFORMER) FOR CAREER TRAJECTORY</a:t>
            </a:r>
          </a:p>
          <a:p>
            <a:pPr algn="l" marL="436764" indent="-218382" lvl="1">
              <a:lnSpc>
                <a:spcPts val="2832"/>
              </a:lnSpc>
              <a:buFont typeface="Arial"/>
              <a:buChar char="•"/>
            </a:pPr>
            <a:r>
              <a:rPr lang="en-US" sz="20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QUANTILE REGRESSION FOR UNCERTAINTY ESTIMATES</a:t>
            </a:r>
          </a:p>
          <a:p>
            <a:pPr algn="l" marL="436764" indent="-218382" lvl="1">
              <a:lnSpc>
                <a:spcPts val="2832"/>
              </a:lnSpc>
              <a:buFont typeface="Arial"/>
              <a:buChar char="•"/>
            </a:pPr>
            <a:r>
              <a:rPr lang="en-US" sz="20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EXPAND BEYOND 14 LEAGUES; JOIN INJURY RECORDS</a:t>
            </a:r>
          </a:p>
          <a:p>
            <a:pPr algn="l">
              <a:lnSpc>
                <a:spcPts val="2832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20676" y="1830065"/>
            <a:ext cx="12951349" cy="1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b="true" sz="11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20676" y="4633713"/>
            <a:ext cx="13293580" cy="283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5837" indent="-347919" lvl="1">
              <a:lnSpc>
                <a:spcPts val="4512"/>
              </a:lnSpc>
              <a:buFont typeface="Arial"/>
              <a:buChar char="•"/>
            </a:pPr>
            <a:r>
              <a:rPr lang="en-US" b="true" sz="3222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REPOSITORY: </a:t>
            </a:r>
            <a:r>
              <a:rPr lang="en-US" sz="3222">
                <a:solidFill>
                  <a:srgbClr val="489768"/>
                </a:solidFill>
                <a:latin typeface="Alexandria"/>
                <a:ea typeface="Alexandria"/>
                <a:cs typeface="Alexandria"/>
                <a:sym typeface="Alexandria"/>
              </a:rPr>
              <a:t>FOOTBALL-PLAYER-VALUE-PREDICTOR</a:t>
            </a:r>
          </a:p>
          <a:p>
            <a:pPr algn="l">
              <a:lnSpc>
                <a:spcPts val="4512"/>
              </a:lnSpc>
            </a:pPr>
          </a:p>
          <a:p>
            <a:pPr algn="l" marL="695837" indent="-347919" lvl="1">
              <a:lnSpc>
                <a:spcPts val="4512"/>
              </a:lnSpc>
              <a:buFont typeface="Arial"/>
              <a:buChar char="•"/>
            </a:pPr>
            <a:r>
              <a:rPr lang="en-US" b="true" sz="3222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PIPELINE: </a:t>
            </a:r>
            <a:r>
              <a:rPr lang="en-US" sz="3222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10 NOTEBOOKS · 7 RAW CSVS → DREAM TEAM</a:t>
            </a:r>
          </a:p>
          <a:p>
            <a:pPr algn="l">
              <a:lnSpc>
                <a:spcPts val="4512"/>
              </a:lnSpc>
            </a:pPr>
          </a:p>
          <a:p>
            <a:pPr algn="l" marL="695837" indent="-347919" lvl="1">
              <a:lnSpc>
                <a:spcPts val="4512"/>
              </a:lnSpc>
              <a:buFont typeface="Arial"/>
              <a:buChar char="•"/>
            </a:pPr>
            <a:r>
              <a:rPr lang="en-US" b="true" sz="3222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BEST MODEL:  </a:t>
            </a:r>
            <a:r>
              <a:rPr lang="en-US" sz="3222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XGBOOST · R² UP TO </a:t>
            </a:r>
            <a:r>
              <a:rPr lang="en-US" b="true" sz="3222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0.830</a:t>
            </a:r>
            <a:r>
              <a:rPr lang="en-US" sz="3222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 (MID)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DAHC4b9pFFw</dc:identifier>
  <dcterms:modified xsi:type="dcterms:W3CDTF">2011-08-01T06:04:30Z</dcterms:modified>
  <cp:revision>1</cp:revision>
  <dc:title>Grey Minimalist Professional Project Presentation</dc:title>
</cp:coreProperties>
</file>